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0599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project files: insurance.csv, insurance_EDA_continuation_FINAL_v2.ipynb, insurance_modeling.ipynb, capstone_report_expanded.docx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insurance_EDA_continuation_FINAL_v2.ipynb (claim distribution plot).
User-provided capstone_report_expanded.docx (problem framing and narrative).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insurance_feature_engineering_from_eda.ipynb and insurance_modeling.ipynb.
User-provided project report.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insurance_EDA_continuation_FINAL_v2.ipynb: claim distribution and charges by claim status.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insurance_EDA_continuation_FINAL_v2.ipynb: charges by smoker; charges vs BMI.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insurance_EDA_continuation_FINAL_v2.ipynb: Pearson correlation heatmap.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insurance_modeling.ipynb and model_metrics.csv.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model_metrics.csv and insurance_modeling.ipynb.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insurance_modeling.ipynb: confusion matrix, ROC curve, classifier feature importance.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model_metrics.csv and insurance_modeling.ipynb.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insurance_modeling.ipynb and capstone_report_expanded.docx.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project proposal and project report.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Springboard Capstone · Insurance Claim Prediction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igital_illustration_in_a_modern_and_professiona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804672"/>
            <a:ext cx="5577840" cy="4251960"/>
          </a:xfrm>
          <a:prstGeom prst="roundRect">
            <a:avLst>
              <a:gd name="adj" fmla="val 172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NP"/>
          </a:p>
        </p:txBody>
      </p:sp>
      <p:sp>
        <p:nvSpPr>
          <p:cNvPr id="4" name="Text 1"/>
          <p:cNvSpPr/>
          <p:nvPr/>
        </p:nvSpPr>
        <p:spPr>
          <a:xfrm>
            <a:off x="896112" y="1078992"/>
            <a:ext cx="5120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Insurance Claim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Prediction Using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Machine Learning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14400" y="34564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BFE"/>
                </a:solidFill>
              </a:rPr>
              <a:t>Springboard Capstone presentation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38404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</a:rPr>
              <a:t>Two linked business questions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</a:rPr>
              <a:t>• Who is likely to file a claim?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E2E8F0"/>
                </a:solidFill>
              </a:rPr>
              <a:t>• What charges should the insurer expect?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42277" y="57561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</a:rPr>
              <a:t>Dataset: 1,338 policyholders · six predictor fields · classification + regression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Business problem and project objective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197863"/>
            <a:ext cx="4663440" cy="4956048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5955" y="834525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the problem matters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190195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Insurance pricing and underwriting improve when claim risk is estimated consistently rather than by judgment alone.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42416" y="256032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second model for charges helps quantify the financial magnitude behind each customer segment.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42416" y="321868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5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turn EDA insights into decisions an insurer can use.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4233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96112" y="4636008"/>
            <a:ext cx="77724" cy="777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42416" y="45628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the binary target insuranceclaim.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96112" y="5120640"/>
            <a:ext cx="77724" cy="777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42416" y="50474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 charges for budget and premium planning.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96112" y="5605272"/>
            <a:ext cx="77724" cy="777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42416" y="5532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strongest cost and risk drivers.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577840" y="141732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87568" y="1490472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1,338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87568" y="1837944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360920" y="141732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ECFCCB"/>
          </a:solidFill>
          <a:ln w="12700">
            <a:solidFill>
              <a:srgbClr val="ECFCCB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470648" y="1490472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58.5%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470648" y="1837944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 rate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504688" y="2487168"/>
            <a:ext cx="59893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742432" y="27432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Insurance claim distribution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Image 0" descr="/mnt/data/extracted_eda_images/cell21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3328557"/>
            <a:ext cx="2788920" cy="199311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732520" y="28346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732520" y="309067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Claims are common in this dataset, so evaluation needs to balance precision and recall—not accuracy alone.</a:t>
            </a:r>
            <a:endParaRPr lang="en-US" sz="15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8732520" y="4160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motivates reporting F1 for classification and RMSE/R² for regression.</a:t>
            </a:r>
            <a:endParaRPr lang="en-US" sz="14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Data, preprocessing, and workflow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the  pipeline turns raw fields into model-ready inputs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3840480" cy="48920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1572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snapshot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96112" y="1975104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190195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 age, sex, BMI, children, smoker, region</a:t>
            </a:r>
            <a:endParaRPr lang="en-US" sz="15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96112" y="2478024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42416" y="240487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Targets: insuranceclaim (classification) and charges (regression)</a:t>
            </a:r>
            <a:endParaRPr lang="en-US" sz="15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96112" y="2980944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42416" y="29077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tabular data from a public insurance dataset</a:t>
            </a:r>
            <a:endParaRPr lang="en-US" sz="15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96112" y="3483864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42416" y="34107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Compact, clean dataset preserved without dropping rows</a:t>
            </a:r>
            <a:endParaRPr lang="en-US" sz="15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8680" y="4069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choices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96112" y="4462272"/>
            <a:ext cx="77724" cy="777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42416" y="43891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Validated dummy-ready categorical fields</a:t>
            </a:r>
            <a:endParaRPr lang="en-US" sz="14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96112" y="4919472"/>
            <a:ext cx="77724" cy="777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42416" y="4846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feature magnitudes with StandardScaler</a:t>
            </a:r>
            <a:endParaRPr lang="en-US" sz="14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96112" y="5376672"/>
            <a:ext cx="77724" cy="777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42416" y="53035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a consistent 80/20 train-test split with random state = 42</a:t>
            </a:r>
            <a:endParaRPr lang="en-US" sz="14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28032" y="1554479"/>
            <a:ext cx="3044952" cy="219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used across notebooks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64608" y="2359152"/>
            <a:ext cx="1444752" cy="1444752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74336" y="259689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Wrangling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74336" y="2889504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 fields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8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completeness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37960" y="2359152"/>
            <a:ext cx="1444752" cy="1444752"/>
          </a:xfrm>
          <a:prstGeom prst="roundRect">
            <a:avLst>
              <a:gd name="adj" fmla="val 5063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47688" y="259689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47688" y="2889504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risk drivers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8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hypotheses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211312" y="2359152"/>
            <a:ext cx="1444752" cy="1444752"/>
          </a:xfrm>
          <a:prstGeom prst="roundRect">
            <a:avLst>
              <a:gd name="adj" fmla="val 5063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321040" y="259689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321040" y="2889504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 + prepare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8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train/test data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884664" y="2359152"/>
            <a:ext cx="1444752" cy="1444752"/>
          </a:xfrm>
          <a:prstGeom prst="roundRect">
            <a:avLst>
              <a:gd name="adj" fmla="val 50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994392" y="259689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994392" y="2889504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8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pick final ones</a:t>
            </a:r>
            <a:endParaRPr lang="en-US" sz="10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828032" y="4315968"/>
            <a:ext cx="66751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29200" y="4526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two tasks?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029200" y="480060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claim model answers, “who is likely to file,” while the charge model answers, “how costly could that policyholder be.” Together they support triage, pricing, and segmentation decisions.</a:t>
            </a:r>
            <a:endParaRPr lang="en-US" sz="15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EDA: where the signal first appears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15727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Figure: claim distribution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/mnt/data/extracted_eda_images/cell21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57595"/>
            <a:ext cx="3246120" cy="23198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5262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Roughly three out of five policyholders are labeled as claim filers</a:t>
            </a:r>
            <a:r>
              <a:rPr lang="en-US" sz="14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26280" y="1325880"/>
            <a:ext cx="3886200" cy="443484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736592" y="1572768"/>
            <a:ext cx="29911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Figure: charges by claim status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/mnt/data/extracted_eda_images/cell21_ou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144" y="1828800"/>
            <a:ext cx="3429329" cy="23774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6592" y="452628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Claim-positive customers show a clear upward shift in charges.</a:t>
            </a:r>
          </a:p>
        </p:txBody>
      </p:sp>
      <p:sp>
        <p:nvSpPr>
          <p:cNvPr id="13" name="Shape 9"/>
          <p:cNvSpPr/>
          <p:nvPr/>
        </p:nvSpPr>
        <p:spPr>
          <a:xfrm>
            <a:off x="8723376" y="1360304"/>
            <a:ext cx="3008376" cy="4400416"/>
          </a:xfrm>
          <a:prstGeom prst="roundRect">
            <a:avLst>
              <a:gd name="adj" fmla="val 254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965692" y="1444752"/>
            <a:ext cx="1770440" cy="164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matters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9034272" y="2011679"/>
            <a:ext cx="2441448" cy="337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4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target is business-relevant: claims are frequent enough to act on.</a:t>
            </a:r>
            <a:endParaRPr lang="en-US" sz="14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9110472" y="28620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4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Charges rise sharply for the claim class, linking cost burden to claim behavior.</a:t>
            </a:r>
            <a:endParaRPr lang="en-US" sz="14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110472" y="38028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4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EDA justifies building both a classification model and a cost model.</a:t>
            </a:r>
            <a:endParaRPr lang="en-US" sz="14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EDA: the strongest risk drivers are visible early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Smoker status and BMI stand out before any model is trained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3840480" cy="44805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15727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Charges by smoker status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/mnt/data/extracted_eda_images/cell19_out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31109"/>
            <a:ext cx="3456432" cy="2282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617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Smokers form a distinctly higher-cost segment.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90288" y="1325880"/>
            <a:ext cx="3886200" cy="448056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00600" y="15727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Charges versus BMI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/mnt/data/extracted_eda_images/cell17_ou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919032"/>
            <a:ext cx="3493008" cy="23067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4617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expensive tail becomes much heavier as BMI rises.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732520" y="1325880"/>
            <a:ext cx="2788920" cy="448056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9019032" y="1466750"/>
            <a:ext cx="2380488" cy="285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interpretation</a:t>
            </a:r>
            <a:endParaRPr lang="en-US" sz="15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9089136" y="20299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4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Smoker status behaves like a high-risk segmentation variable.</a:t>
            </a:r>
            <a:endParaRPr lang="en-US" sz="14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9089136" y="277977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4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BMI adds health-related signal that the claim model can learn.</a:t>
            </a:r>
            <a:endParaRPr lang="en-US" sz="14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089136" y="352958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4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contributes too, but less sharply than smoker and BMI in EDA.</a:t>
            </a:r>
            <a:endParaRPr lang="en-US" sz="14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EDA: correlation view of the portfolio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heatmap compresses the main relationships into a single diagnostic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644652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mnt/data/extracted_eda_images/cell24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59" y="1627632"/>
            <a:ext cx="5865962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60920" y="1325880"/>
            <a:ext cx="4160520" cy="516636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635240" y="1517904"/>
            <a:ext cx="33512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from the heatmap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781544" y="201168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4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Charges have the strongest positive correlation with insuranceclaim in the EDA notebook.</a:t>
            </a:r>
            <a:endParaRPr lang="en-US" sz="14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781544" y="27249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4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BMI and age show smaller but meaningful positive relationships with cost and claim risk.</a:t>
            </a:r>
            <a:endParaRPr lang="en-US" sz="14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781544" y="343814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4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 and sex appear weaker on their own, suggesting limited standalone signal.</a:t>
            </a:r>
            <a:endParaRPr lang="en-US" sz="14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781544" y="415137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4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feature story is consistent across the EDA and final model importances.</a:t>
            </a:r>
            <a:endParaRPr lang="en-US" sz="14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635240" y="5074920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744968" y="5148072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↑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744968" y="549554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burden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887968" y="5074920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ECFCCB"/>
          </a:solidFill>
          <a:ln w="12700">
            <a:solidFill>
              <a:srgbClr val="ECFCCB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997696" y="5148072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↑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997696" y="549554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BMI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0149840" y="5074920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259568" y="5148072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↑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259568" y="549554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Modeling strategy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models were compared for each task, then the most effective operational choice was selected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target: insuranceclaim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96112" y="2039112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1965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— interpretable linear baseline</a:t>
            </a:r>
            <a:endParaRPr lang="en-US" sz="15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96112" y="2697480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42416" y="2624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— flexible nonlinear benchmark</a:t>
            </a:r>
            <a:endParaRPr lang="en-US" sz="15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96112" y="3355848"/>
            <a:ext cx="77724" cy="777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42416" y="32826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Tuned Random Forest — ensemble model with GridSearchCV</a:t>
            </a:r>
            <a:endParaRPr lang="en-US" sz="15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4206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focus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96112" y="448056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F1, and a ROC diagnostic for the final classifier.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82512" y="1353312"/>
            <a:ext cx="514807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01967" y="1600199"/>
            <a:ext cx="3305825" cy="233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 target: charges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629400" y="2039112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75704" y="19659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— baseline estimate of cost</a:t>
            </a:r>
            <a:endParaRPr lang="en-US" sz="15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629400" y="2697480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75704" y="2624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Regressor — threshold-based nonlinear model</a:t>
            </a:r>
            <a:endParaRPr lang="en-US" sz="15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629400" y="3355848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75704" y="32826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4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Tuned Random Forest Regressor — best fit for nonlinear cost patterns</a:t>
            </a:r>
            <a:endParaRPr lang="en-US" sz="15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601968" y="42062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focus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29400" y="44805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 for error size and R² for explained variance on the held-out test set.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Classification results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 win the split on raw F1, but the tuned Random Forest remains the better stakeholder model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598932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mnt/data/slide_assets/classification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41565"/>
            <a:ext cx="5596128" cy="30845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48640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Decision Tree models post the top point estimate on this test split. The Random Forest remains close behind while offering a more stable ensemble decision rule.</a:t>
            </a:r>
            <a:endParaRPr lang="en-US" sz="14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876288" y="1353312"/>
            <a:ext cx="4645152" cy="5074920"/>
          </a:xfrm>
          <a:prstGeom prst="roundRect">
            <a:avLst>
              <a:gd name="adj" fmla="val 15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114032" y="16459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Held-out test metrics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114032" y="1993392"/>
            <a:ext cx="1847088" cy="393192"/>
          </a:xfrm>
          <a:prstGeom prst="rect">
            <a:avLst/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141464" y="2066544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961120" y="1993392"/>
            <a:ext cx="640080" cy="393192"/>
          </a:xfrm>
          <a:prstGeom prst="rect">
            <a:avLst/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988552" y="206654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Acc.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601200" y="1993392"/>
            <a:ext cx="640080" cy="393192"/>
          </a:xfrm>
          <a:prstGeom prst="rect">
            <a:avLst/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628632" y="206654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Prec.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0241280" y="1993392"/>
            <a:ext cx="685800" cy="393192"/>
          </a:xfrm>
          <a:prstGeom prst="rect">
            <a:avLst/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268712" y="2066544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0927080" y="1993392"/>
            <a:ext cx="576072" cy="393192"/>
          </a:xfrm>
          <a:prstGeom prst="rect">
            <a:avLst/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954512" y="2066544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114032" y="2386584"/>
            <a:ext cx="184708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141464" y="2459736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8961120" y="2386584"/>
            <a:ext cx="640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988552" y="245973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0.888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9601200" y="2386584"/>
            <a:ext cx="640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628632" y="245973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0.906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0241280" y="2386584"/>
            <a:ext cx="685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268712" y="2459736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0.894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0927080" y="2386584"/>
            <a:ext cx="57607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0954512" y="2459736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0.900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7114032" y="2779776"/>
            <a:ext cx="184708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141464" y="2852928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(gini)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8961120" y="2779776"/>
            <a:ext cx="640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988552" y="285292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0.989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9601200" y="2779776"/>
            <a:ext cx="640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9628632" y="285292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0.987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10241280" y="2779776"/>
            <a:ext cx="685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10268712" y="2852928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0.993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10927080" y="2779776"/>
            <a:ext cx="57607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10954512" y="2852928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0.990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7114032" y="3172968"/>
            <a:ext cx="184708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7141464" y="324612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(entropy)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8961120" y="3172968"/>
            <a:ext cx="640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8988552" y="324612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0.989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9601200" y="3172968"/>
            <a:ext cx="64008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9628632" y="324612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0.987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10241280" y="3172968"/>
            <a:ext cx="6858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10268712" y="3246120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0.993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10927080" y="3172968"/>
            <a:ext cx="576072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10954512" y="3246120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0.990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7114032" y="3566160"/>
            <a:ext cx="1847088" cy="393192"/>
          </a:xfrm>
          <a:prstGeom prst="rect">
            <a:avLst/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7141464" y="363931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(tuned)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8961120" y="3566160"/>
            <a:ext cx="640080" cy="393192"/>
          </a:xfrm>
          <a:prstGeom prst="rect">
            <a:avLst/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8988552" y="363931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0.959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9601200" y="3566160"/>
            <a:ext cx="640080" cy="393192"/>
          </a:xfrm>
          <a:prstGeom prst="rect">
            <a:avLst/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9628632" y="363931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0.955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10241280" y="3566160"/>
            <a:ext cx="685800" cy="393192"/>
          </a:xfrm>
          <a:prstGeom prst="rect">
            <a:avLst/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10268712" y="3639312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0.974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10927080" y="3566160"/>
            <a:ext cx="576072" cy="393192"/>
          </a:xfrm>
          <a:prstGeom prst="rect">
            <a:avLst/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10954512" y="3639312"/>
            <a:ext cx="521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0.964</a:t>
            </a:r>
            <a:endParaRPr lang="en-US" sz="11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7114032" y="4617720"/>
            <a:ext cx="4069080" cy="1024128"/>
          </a:xfrm>
          <a:prstGeom prst="roundRect">
            <a:avLst>
              <a:gd name="adj" fmla="val 4464"/>
            </a:avLst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7333487" y="4773168"/>
            <a:ext cx="1907331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91B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choice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7333488" y="5029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7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selected for its strong F1 plus ensemble robustness and clearer stakeholder diagnostics.</a:t>
            </a:r>
            <a:endParaRPr lang="en-US" sz="13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Final classifier diagnostics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tuned Random Forest separates classes well and leans on the same features highlighted in EDA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16093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/mnt/data/extracted_notebook_images/cell14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23520"/>
            <a:ext cx="3154680" cy="285668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70832" y="1353312"/>
            <a:ext cx="3611880" cy="43891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90288" y="16093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 curve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/mnt/data/extracted_notebook_images/cell14_ou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103813"/>
            <a:ext cx="3200400" cy="269609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156448" y="1353312"/>
            <a:ext cx="3337560" cy="438912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366759" y="1609344"/>
            <a:ext cx="2208007" cy="278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 descr="/mnt/data/extracted_notebook_images/cell14_out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326549"/>
            <a:ext cx="2907792" cy="170198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94192" y="4663440"/>
            <a:ext cx="1470570" cy="59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 ≈ 0.993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394192" y="491947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BMI, children, age, and smoker rank highest in the final classifier output from the notebook.</a:t>
            </a:r>
            <a:endParaRPr lang="en-US" sz="13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Regression results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tuned Random Forest regressor produces the lowest error and the highest explained variance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571500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mnt/data/slide_assets/regression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55725"/>
            <a:ext cx="5349240" cy="29019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5138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improves RMSE materially versus linear regression and the single decision tree.</a:t>
            </a:r>
            <a:endParaRPr lang="en-US" sz="14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629400" y="1353312"/>
            <a:ext cx="4892040" cy="507492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858000" y="16459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Held-out test metrics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876288" y="1993392"/>
            <a:ext cx="2487168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903720" y="2084832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363456" y="1993392"/>
            <a:ext cx="1005840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390888" y="2084832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endParaRPr 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369296" y="1993392"/>
            <a:ext cx="777240" cy="438912"/>
          </a:xfrm>
          <a:prstGeom prst="rect">
            <a:avLst/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396728" y="2084832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R²</a:t>
            </a:r>
            <a:endParaRPr 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876288" y="2432304"/>
            <a:ext cx="248716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903720" y="2523744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7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  <a:endParaRPr 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363456" y="2432304"/>
            <a:ext cx="1005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390888" y="252374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5,958</a:t>
            </a:r>
            <a:endParaRPr 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0369296" y="2432304"/>
            <a:ext cx="777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396728" y="2523744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0.807</a:t>
            </a:r>
            <a:endParaRPr 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876288" y="2871216"/>
            <a:ext cx="248716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903720" y="2962656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7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Regressor</a:t>
            </a:r>
            <a:endParaRPr 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9363456" y="2871216"/>
            <a:ext cx="1005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390888" y="2962656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6,345</a:t>
            </a:r>
            <a:endParaRPr 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0369296" y="2871216"/>
            <a:ext cx="777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396728" y="2962656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0.781</a:t>
            </a:r>
            <a:endParaRPr 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876288" y="3310128"/>
            <a:ext cx="2487168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903720" y="3401568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Regressor</a:t>
            </a:r>
            <a:endParaRPr 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9363456" y="3310128"/>
            <a:ext cx="100584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9390888" y="3401568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4,253</a:t>
            </a:r>
            <a:endParaRPr 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10369296" y="3310128"/>
            <a:ext cx="77724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0396728" y="3401568"/>
            <a:ext cx="722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0.902</a:t>
            </a:r>
            <a:endParaRPr 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876288" y="43159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0" b="1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regressor</a:t>
            </a:r>
            <a:endParaRPr lang="en-US" sz="14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876288" y="45720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tuned Random Forest regressor was chosen because it combines the lowest prediction error with the strongest overall fit to actual charges.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876288" y="5376672"/>
            <a:ext cx="1143000" cy="749808"/>
          </a:xfrm>
          <a:prstGeom prst="roundRect">
            <a:avLst>
              <a:gd name="adj" fmla="val 731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986016" y="5449824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4,253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986016" y="5797296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RMSE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8193024" y="5376672"/>
            <a:ext cx="1143000" cy="749808"/>
          </a:xfrm>
          <a:prstGeom prst="roundRect">
            <a:avLst>
              <a:gd name="adj" fmla="val 731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8302752" y="5449824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0.902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8302752" y="5797296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R²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Final regressor diagnostics and recommendations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Predictions track actual charges well enough to support practical segmentation decisions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3584448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160934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Predicted vs actual charges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/mnt/data/extracted_notebook_images/cell26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15" y="1828800"/>
            <a:ext cx="3006811" cy="26700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07408" y="1353312"/>
            <a:ext cx="3364992" cy="342900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617720" y="160934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check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/mnt/data/extracted_notebook_images/cell26_ou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62403"/>
            <a:ext cx="2999232" cy="240284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936992" y="1353312"/>
            <a:ext cx="3584448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156448" y="16093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Regressor feature importance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 descr="/mnt/data/extracted_notebook_images/cell26_out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2227576"/>
            <a:ext cx="3154680" cy="187249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58368" y="4983480"/>
            <a:ext cx="10863072" cy="128016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96112" y="5303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endParaRPr lang="en-US" sz="14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2697480" y="5394960"/>
            <a:ext cx="77724" cy="7772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2843784" y="532180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classifier for risk stratification and closer underwriting review.</a:t>
            </a:r>
            <a:endParaRPr lang="en-US" sz="13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2697480" y="5733288"/>
            <a:ext cx="77724" cy="7772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2843784" y="566013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preventive outreach around smoker status and BMI, which dominate the EDA and model importance plots.</a:t>
            </a:r>
            <a:endParaRPr lang="en-US" sz="13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2697480" y="6071616"/>
            <a:ext cx="77724" cy="7772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2843784" y="599846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charge model to support pricing and segmentation—while layering in fairness checks before deployment.</a:t>
            </a:r>
            <a:endParaRPr lang="en-US" sz="13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Limitations and next steps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589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this capstone shows now, and what should be improved before production use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060704"/>
            <a:ext cx="11018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370832" y="141732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083296" y="141732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96112" y="1719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32688" y="2221992"/>
            <a:ext cx="77724" cy="777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8992" y="214884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 compared with real production insurance portfolios.</a:t>
            </a:r>
            <a:endParaRPr lang="en-US" sz="13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32688" y="3044952"/>
            <a:ext cx="77724" cy="777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78992" y="297180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structured tabular features are available—no richer medical history or claims history.</a:t>
            </a:r>
            <a:endParaRPr lang="en-US" sz="13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32688" y="3867912"/>
            <a:ext cx="77724" cy="777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78992" y="379476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strong predictors may reflect downstream cost burden and would need governance review.</a:t>
            </a:r>
            <a:endParaRPr lang="en-US" sz="13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17720" y="1719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45152" y="2221992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91456" y="2148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 XGBoost to match the original proposal more closely.</a:t>
            </a:r>
            <a:endParaRPr lang="en-US" sz="13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45152" y="3044952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91456" y="2971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SHAP-based explanations for local interpretability.</a:t>
            </a:r>
            <a:endParaRPr lang="en-US" sz="13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645152" y="3867912"/>
            <a:ext cx="77724" cy="777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P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91456" y="3794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Stress-test fairness and cross-validated stability before operational rollout.</a:t>
            </a:r>
            <a:endParaRPr lang="en-US" sz="13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339328" y="17190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Bottom line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339328" y="214884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shows a credible, end-to-end machine learning workflow: strong EDA, clear model comparisons, and practical business recommendations grounded in the notebook evidence.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1438</Words>
  <Application>Microsoft Macintosh PowerPoint</Application>
  <PresentationFormat>Widescreen</PresentationFormat>
  <Paragraphs>213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Claim Prediction Using Machine Learning</dc:title>
  <dc:subject>Insurance claim prediction capstone</dc:subject>
  <dc:creator>OpenAI</dc:creator>
  <cp:lastModifiedBy>Mahesh</cp:lastModifiedBy>
  <cp:revision>4</cp:revision>
  <dcterms:created xsi:type="dcterms:W3CDTF">2026-03-20T15:02:30Z</dcterms:created>
  <dcterms:modified xsi:type="dcterms:W3CDTF">2026-03-20T17:01:49Z</dcterms:modified>
</cp:coreProperties>
</file>